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614F"/>
    <a:srgbClr val="BCA596"/>
    <a:srgbClr val="E1D7D1"/>
    <a:srgbClr val="F5F3F1"/>
    <a:srgbClr val="44362C"/>
    <a:srgbClr val="F7F3EA"/>
    <a:srgbClr val="D5C7BD"/>
    <a:srgbClr val="FEFDFC"/>
    <a:srgbClr val="C5B1A3"/>
    <a:srgbClr val="EEE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7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 descr="The image depicts a group of business professionals in a modern, high-rise office environment, engaging with various digital screens and maps.&#10;&#10;AI 생성 콘텐츠는 정확하지 않을 수 있습니다.">
            <a:extLst>
              <a:ext uri="{FF2B5EF4-FFF2-40B4-BE49-F238E27FC236}">
                <a16:creationId xmlns:a16="http://schemas.microsoft.com/office/drawing/2014/main" id="{D673D3E7-D15D-18CB-77B5-EB2714B35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7"/>
          <a:stretch>
            <a:fillRect/>
          </a:stretch>
        </p:blipFill>
        <p:spPr>
          <a:xfrm>
            <a:off x="0" y="0"/>
            <a:ext cx="12192000" cy="5746750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CC61355B-F322-EC94-0EA5-4FEA449A8647}"/>
              </a:ext>
            </a:extLst>
          </p:cNvPr>
          <p:cNvSpPr/>
          <p:nvPr/>
        </p:nvSpPr>
        <p:spPr>
          <a:xfrm>
            <a:off x="-44451" y="-88900"/>
            <a:ext cx="12252325" cy="583565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DF2918-B480-456D-A347-F95BC30026AD}"/>
              </a:ext>
            </a:extLst>
          </p:cNvPr>
          <p:cNvSpPr>
            <a:spLocks noGrp="1"/>
          </p:cNvSpPr>
          <p:nvPr/>
        </p:nvSpPr>
        <p:spPr>
          <a:xfrm>
            <a:off x="4379911" y="2493666"/>
            <a:ext cx="3390900" cy="60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000" b="1" dirty="0" err="1">
                <a:solidFill>
                  <a:srgbClr val="EEE8E2"/>
                </a:solidFill>
                <a:latin typeface="Malgun Gothic"/>
                <a:ea typeface="Malgun Gothic"/>
                <a:cs typeface="Malgun Gothic"/>
              </a:rPr>
              <a:t>CareerLens</a:t>
            </a:r>
            <a:endParaRPr sz="5000" b="1" dirty="0">
              <a:solidFill>
                <a:srgbClr val="EEE8E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A9A4D4-48F3-45B6-A546-60206EF6F96C}"/>
              </a:ext>
            </a:extLst>
          </p:cNvPr>
          <p:cNvSpPr>
            <a:spLocks noGrp="1"/>
          </p:cNvSpPr>
          <p:nvPr/>
        </p:nvSpPr>
        <p:spPr>
          <a:xfrm>
            <a:off x="3186111" y="3268807"/>
            <a:ext cx="5791200" cy="60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F5F3F1"/>
                </a:solidFill>
                <a:latin typeface="Malgun Gothic"/>
                <a:ea typeface="Malgun Gothic"/>
                <a:cs typeface="Malgun Gothic"/>
              </a:rPr>
              <a:t>맞춤형 적합도 진단 및 커리어 개발 </a:t>
            </a:r>
            <a:r>
              <a:rPr lang="ko-KR" altLang="en-US" sz="2000" b="1" dirty="0" err="1">
                <a:solidFill>
                  <a:srgbClr val="F5F3F1"/>
                </a:solidFill>
                <a:latin typeface="Malgun Gothic"/>
                <a:ea typeface="Malgun Gothic"/>
                <a:cs typeface="Malgun Gothic"/>
              </a:rPr>
              <a:t>플래너</a:t>
            </a:r>
            <a:r>
              <a:rPr lang="ko-KR" altLang="en-US" sz="2000" b="1" dirty="0">
                <a:solidFill>
                  <a:srgbClr val="F5F3F1"/>
                </a:solidFill>
                <a:latin typeface="Malgun Gothic"/>
                <a:ea typeface="Malgun Gothic"/>
                <a:cs typeface="Malgun Gothic"/>
              </a:rPr>
              <a:t> 서비스</a:t>
            </a: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EE953949-C32B-D675-24E2-F3A9C028AD51}"/>
              </a:ext>
            </a:extLst>
          </p:cNvPr>
          <p:cNvSpPr/>
          <p:nvPr/>
        </p:nvSpPr>
        <p:spPr>
          <a:xfrm>
            <a:off x="-28575" y="3498850"/>
            <a:ext cx="12236450" cy="3359150"/>
          </a:xfrm>
          <a:custGeom>
            <a:avLst/>
            <a:gdLst>
              <a:gd name="csX0" fmla="*/ 12210958 w 12236450"/>
              <a:gd name="csY0" fmla="*/ 0 h 2622550"/>
              <a:gd name="csX1" fmla="*/ 12236450 w 12236450"/>
              <a:gd name="csY1" fmla="*/ 0 h 2622550"/>
              <a:gd name="csX2" fmla="*/ 12236450 w 12236450"/>
              <a:gd name="csY2" fmla="*/ 2622550 h 2622550"/>
              <a:gd name="csX3" fmla="*/ 0 w 12236450"/>
              <a:gd name="csY3" fmla="*/ 2622550 h 2622550"/>
              <a:gd name="csX4" fmla="*/ 0 w 12236450"/>
              <a:gd name="csY4" fmla="*/ 44891 h 2622550"/>
              <a:gd name="csX5" fmla="*/ 27889 w 12236450"/>
              <a:gd name="csY5" fmla="*/ 132422 h 2622550"/>
              <a:gd name="csX6" fmla="*/ 6096000 w 12236450"/>
              <a:gd name="csY6" fmla="*/ 1758950 h 2622550"/>
              <a:gd name="csX7" fmla="*/ 12220575 w 12236450"/>
              <a:gd name="csY7" fmla="*/ 34925 h 2622550"/>
              <a:gd name="csX8" fmla="*/ 0 w 12236450"/>
              <a:gd name="csY8" fmla="*/ 0 h 2622550"/>
              <a:gd name="csX9" fmla="*/ 9107 w 12236450"/>
              <a:gd name="csY9" fmla="*/ 0 h 2622550"/>
              <a:gd name="csX10" fmla="*/ 0 w 12236450"/>
              <a:gd name="csY10" fmla="*/ 25897 h 2622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236450" h="2622550">
                <a:moveTo>
                  <a:pt x="12210958" y="0"/>
                </a:moveTo>
                <a:lnTo>
                  <a:pt x="12236450" y="0"/>
                </a:lnTo>
                <a:lnTo>
                  <a:pt x="12236450" y="2622550"/>
                </a:lnTo>
                <a:lnTo>
                  <a:pt x="0" y="2622550"/>
                </a:lnTo>
                <a:lnTo>
                  <a:pt x="0" y="44891"/>
                </a:lnTo>
                <a:lnTo>
                  <a:pt x="27889" y="132422"/>
                </a:lnTo>
                <a:cubicBezTo>
                  <a:pt x="337971" y="660412"/>
                  <a:pt x="2931474" y="1758950"/>
                  <a:pt x="6096000" y="1758950"/>
                </a:cubicBezTo>
                <a:cubicBezTo>
                  <a:pt x="9471495" y="1758950"/>
                  <a:pt x="12220575" y="653912"/>
                  <a:pt x="12220575" y="34925"/>
                </a:cubicBezTo>
                <a:close/>
                <a:moveTo>
                  <a:pt x="0" y="0"/>
                </a:moveTo>
                <a:lnTo>
                  <a:pt x="9107" y="0"/>
                </a:lnTo>
                <a:lnTo>
                  <a:pt x="0" y="25897"/>
                </a:lnTo>
                <a:close/>
              </a:path>
            </a:pathLst>
          </a:custGeom>
          <a:solidFill>
            <a:srgbClr val="E1D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36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GLOBAL TALENT FAIR,&#10;&#10;AI 생성 콘텐츠는 정확하지 않을 수 있습니다.">
            <a:extLst>
              <a:ext uri="{FF2B5EF4-FFF2-40B4-BE49-F238E27FC236}">
                <a16:creationId xmlns:a16="http://schemas.microsoft.com/office/drawing/2014/main" id="{5E4B681F-320D-6DA2-28A1-A94D88407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080"/>
          </a:xfrm>
          <a:prstGeom prst="rect">
            <a:avLst/>
          </a:prstGeom>
        </p:spPr>
      </p:pic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26393F92-3CF1-4584-7F92-ED4D969476B3}"/>
              </a:ext>
            </a:extLst>
          </p:cNvPr>
          <p:cNvSpPr/>
          <p:nvPr/>
        </p:nvSpPr>
        <p:spPr>
          <a:xfrm>
            <a:off x="0" y="17840"/>
            <a:ext cx="12192000" cy="6840160"/>
          </a:xfrm>
          <a:prstGeom prst="flowChartProcess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7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GLOBAL TALENT FAIR,&#10;&#10;AI 생성 콘텐츠는 정확하지 않을 수 있습니다.">
            <a:extLst>
              <a:ext uri="{FF2B5EF4-FFF2-40B4-BE49-F238E27FC236}">
                <a16:creationId xmlns:a16="http://schemas.microsoft.com/office/drawing/2014/main" id="{9180CC1E-3055-9461-738C-1F5DF0160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080"/>
          </a:xfrm>
          <a:prstGeom prst="rect">
            <a:avLst/>
          </a:prstGeom>
        </p:spPr>
      </p:pic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DF80502E-E0AF-9D5A-D3EA-101ECF469A38}"/>
              </a:ext>
            </a:extLst>
          </p:cNvPr>
          <p:cNvSpPr/>
          <p:nvPr/>
        </p:nvSpPr>
        <p:spPr>
          <a:xfrm>
            <a:off x="0" y="17840"/>
            <a:ext cx="12192000" cy="6840160"/>
          </a:xfrm>
          <a:prstGeom prst="flowChartProcess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국내 취업이 </a:t>
            </a:r>
            <a:r>
              <a:rPr lang="ko-KR" altLang="en-US" sz="30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힘드신가요</a:t>
            </a:r>
            <a:r>
              <a:rPr lang="en-US" altLang="ko-KR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?</a:t>
            </a:r>
            <a:endParaRPr lang="ko-KR" altLang="en-US" sz="30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0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GLOBAL TALENT FAIR,&#10;&#10;AI 생성 콘텐츠는 정확하지 않을 수 있습니다.">
            <a:extLst>
              <a:ext uri="{FF2B5EF4-FFF2-40B4-BE49-F238E27FC236}">
                <a16:creationId xmlns:a16="http://schemas.microsoft.com/office/drawing/2014/main" id="{6A2B276A-A8A0-8720-BA7D-50F8AAEA0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080"/>
          </a:xfrm>
          <a:prstGeom prst="rect">
            <a:avLst/>
          </a:prstGeom>
        </p:spPr>
      </p:pic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5E856FFD-C3EB-DD4E-B6B9-F1669FE639DB}"/>
              </a:ext>
            </a:extLst>
          </p:cNvPr>
          <p:cNvSpPr/>
          <p:nvPr/>
        </p:nvSpPr>
        <p:spPr>
          <a:xfrm>
            <a:off x="0" y="17840"/>
            <a:ext cx="12192000" cy="6840160"/>
          </a:xfrm>
          <a:prstGeom prst="flowChartProcess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네</a:t>
            </a:r>
            <a:r>
              <a:rPr lang="en-US" altLang="ko-KR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, </a:t>
            </a:r>
            <a:r>
              <a:rPr lang="ko-KR" altLang="en-US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어렵습니다</a:t>
            </a:r>
            <a:r>
              <a:rPr lang="en-US" altLang="ko-KR" sz="30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ko-KR" altLang="en-US" sz="30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751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D9A2BEC-9E38-8F4E-E678-23E5E7181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1" y="2507614"/>
            <a:ext cx="5547245" cy="30549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916794-7726-0220-5867-4934D7AE1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379" y="2507614"/>
            <a:ext cx="5566570" cy="3054985"/>
          </a:xfrm>
          <a:prstGeom prst="rect">
            <a:avLst/>
          </a:prstGeom>
        </p:spPr>
      </p:pic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B4EA2662-FC77-87F0-5351-EE9A51EB3042}"/>
              </a:ext>
            </a:extLst>
          </p:cNvPr>
          <p:cNvSpPr/>
          <p:nvPr/>
        </p:nvSpPr>
        <p:spPr>
          <a:xfrm>
            <a:off x="400051" y="982263"/>
            <a:ext cx="1193005" cy="68580"/>
          </a:xfrm>
          <a:prstGeom prst="flowChartProcess">
            <a:avLst/>
          </a:prstGeom>
          <a:solidFill>
            <a:srgbClr val="4436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659EAB-1038-41B1-B3AF-9A0915CB150E}"/>
              </a:ext>
            </a:extLst>
          </p:cNvPr>
          <p:cNvCxnSpPr>
            <a:stCxn id="4" idx="1"/>
          </p:cNvCxnSpPr>
          <p:nvPr/>
        </p:nvCxnSpPr>
        <p:spPr>
          <a:xfrm>
            <a:off x="400051" y="1016553"/>
            <a:ext cx="11314622" cy="0"/>
          </a:xfrm>
          <a:prstGeom prst="line">
            <a:avLst/>
          </a:prstGeom>
          <a:ln>
            <a:solidFill>
              <a:srgbClr val="4436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C8E6FC-FFF9-3B02-41C0-8FB26940F007}"/>
              </a:ext>
            </a:extLst>
          </p:cNvPr>
          <p:cNvSpPr txBox="1"/>
          <p:nvPr/>
        </p:nvSpPr>
        <p:spPr>
          <a:xfrm>
            <a:off x="288536" y="486309"/>
            <a:ext cx="1390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44362C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사회문제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1358E5-C297-629E-EDFE-6CBBA58B90E1}"/>
              </a:ext>
            </a:extLst>
          </p:cNvPr>
          <p:cNvSpPr txBox="1"/>
          <p:nvPr/>
        </p:nvSpPr>
        <p:spPr>
          <a:xfrm>
            <a:off x="3311761" y="1600913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BCA59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“</a:t>
            </a:r>
            <a:r>
              <a:rPr lang="ko-KR" altLang="en-US" sz="2400" dirty="0">
                <a:solidFill>
                  <a:srgbClr val="BCA59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해외 취업을 희망하는 구직자의 증가</a:t>
            </a:r>
            <a:r>
              <a:rPr lang="en-US" altLang="ko-KR" sz="2400" dirty="0">
                <a:solidFill>
                  <a:srgbClr val="BCA59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＂</a:t>
            </a:r>
            <a:endParaRPr lang="ko-KR" altLang="en-US" sz="2400" dirty="0">
              <a:solidFill>
                <a:srgbClr val="BCA59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3768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epicts the logo for WORLDJOB+, an international integrated information network.&#10;&#10;AI 생성 콘텐츠는 정확하지 않을 수 있습니다.">
            <a:extLst>
              <a:ext uri="{FF2B5EF4-FFF2-40B4-BE49-F238E27FC236}">
                <a16:creationId xmlns:a16="http://schemas.microsoft.com/office/drawing/2014/main" id="{BA3E0072-0F31-777D-4767-D9FA48677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849" y="2048351"/>
            <a:ext cx="4506472" cy="2349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6ED798-2BAE-2CAB-223A-7B97FABC80E3}"/>
              </a:ext>
            </a:extLst>
          </p:cNvPr>
          <p:cNvSpPr txBox="1"/>
          <p:nvPr/>
        </p:nvSpPr>
        <p:spPr>
          <a:xfrm>
            <a:off x="2172490" y="1367353"/>
            <a:ext cx="78470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solidFill>
                  <a:srgbClr val="BCA59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해외 취업</a:t>
            </a:r>
            <a:r>
              <a:rPr lang="ko-KR" altLang="en-US" sz="3000" dirty="0">
                <a:solidFill>
                  <a:srgbClr val="E1D7D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하면 어떤 </a:t>
            </a:r>
            <a:r>
              <a:rPr lang="ko-KR" altLang="en-US" sz="3000" dirty="0">
                <a:solidFill>
                  <a:srgbClr val="BCA59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사이트</a:t>
            </a:r>
            <a:r>
              <a:rPr lang="ko-KR" altLang="en-US" sz="3000" dirty="0">
                <a:solidFill>
                  <a:srgbClr val="E1D7D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 떠오르시나요</a:t>
            </a:r>
            <a:r>
              <a:rPr lang="en-US" altLang="ko-KR" sz="3000" dirty="0">
                <a:solidFill>
                  <a:srgbClr val="E1D7D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ko-KR" altLang="en-US" sz="3000" dirty="0">
              <a:solidFill>
                <a:srgbClr val="E1D7D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그림 6" descr="One Search. All Jobs.&#10;&#10;AI 생성 콘텐츠는 정확하지 않을 수 있습니다.">
            <a:extLst>
              <a:ext uri="{FF2B5EF4-FFF2-40B4-BE49-F238E27FC236}">
                <a16:creationId xmlns:a16="http://schemas.microsoft.com/office/drawing/2014/main" id="{0220FB2B-BE98-6BA1-D585-520F022EE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160" y="4121516"/>
            <a:ext cx="3667637" cy="1714739"/>
          </a:xfrm>
          <a:prstGeom prst="rect">
            <a:avLst/>
          </a:prstGeom>
        </p:spPr>
      </p:pic>
      <p:pic>
        <p:nvPicPr>
          <p:cNvPr id="9" name="그림 8" descr="L&#10;&#10;AI 생성 콘텐츠는 정확하지 않을 수 있습니다.">
            <a:extLst>
              <a:ext uri="{FF2B5EF4-FFF2-40B4-BE49-F238E27FC236}">
                <a16:creationId xmlns:a16="http://schemas.microsoft.com/office/drawing/2014/main" id="{E116A830-59C6-5CF2-F27C-C602AC3F8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665" y="3064093"/>
            <a:ext cx="2324424" cy="1057423"/>
          </a:xfrm>
          <a:prstGeom prst="rect">
            <a:avLst/>
          </a:prstGeom>
        </p:spPr>
      </p:pic>
      <p:pic>
        <p:nvPicPr>
          <p:cNvPr id="11" name="그림 10" descr="PeopleJob&#10;&#10;AI 생성 콘텐츠는 정확하지 않을 수 있습니다.">
            <a:extLst>
              <a:ext uri="{FF2B5EF4-FFF2-40B4-BE49-F238E27FC236}">
                <a16:creationId xmlns:a16="http://schemas.microsoft.com/office/drawing/2014/main" id="{192F4F21-7C65-36B5-649F-712BBDEF48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150" y="4286616"/>
            <a:ext cx="2407360" cy="85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3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7F24B13-4EE7-D8E2-C687-0660833E9DF3}"/>
              </a:ext>
            </a:extLst>
          </p:cNvPr>
          <p:cNvSpPr/>
          <p:nvPr/>
        </p:nvSpPr>
        <p:spPr>
          <a:xfrm>
            <a:off x="1529698" y="1479550"/>
            <a:ext cx="2940050" cy="3263900"/>
          </a:xfrm>
          <a:prstGeom prst="roundRect">
            <a:avLst>
              <a:gd name="adj" fmla="val 5868"/>
            </a:avLst>
          </a:prstGeom>
          <a:solidFill>
            <a:srgbClr val="F5F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rgbClr val="7B614F"/>
                </a:solidFill>
                <a:latin typeface="어그로"/>
                <a:ea typeface="HY견고딕" panose="02030600000101010101" pitchFamily="18" charset="-127"/>
              </a:rPr>
              <a:t>체계적인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51CE8-48D0-131A-D3E8-50933D2C0758}"/>
              </a:ext>
            </a:extLst>
          </p:cNvPr>
          <p:cNvSpPr txBox="1"/>
          <p:nvPr/>
        </p:nvSpPr>
        <p:spPr>
          <a:xfrm>
            <a:off x="834636" y="733959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44362C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타 사이트 문제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B5B56AB-E67F-2161-13AE-FEDC2B37129A}"/>
              </a:ext>
            </a:extLst>
          </p:cNvPr>
          <p:cNvSpPr/>
          <p:nvPr/>
        </p:nvSpPr>
        <p:spPr>
          <a:xfrm>
            <a:off x="4711048" y="1479550"/>
            <a:ext cx="2940050" cy="3263900"/>
          </a:xfrm>
          <a:prstGeom prst="roundRect">
            <a:avLst>
              <a:gd name="adj" fmla="val 5868"/>
            </a:avLst>
          </a:prstGeom>
          <a:solidFill>
            <a:srgbClr val="F5F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1EA963-BAD6-3D17-B851-8D7B5090FD36}"/>
              </a:ext>
            </a:extLst>
          </p:cNvPr>
          <p:cNvSpPr/>
          <p:nvPr/>
        </p:nvSpPr>
        <p:spPr>
          <a:xfrm>
            <a:off x="7892398" y="1479550"/>
            <a:ext cx="2940050" cy="3263900"/>
          </a:xfrm>
          <a:prstGeom prst="roundRect">
            <a:avLst>
              <a:gd name="adj" fmla="val 5868"/>
            </a:avLst>
          </a:prstGeom>
          <a:solidFill>
            <a:srgbClr val="F5F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256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DocSecurity>0</DocSecurity>
  <PresentationFormat>와이드스크린</PresentationFormat>
  <Paragraphs>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HY그래픽M</vt:lpstr>
      <vt:lpstr>HY헤드라인M</vt:lpstr>
      <vt:lpstr>맑은 고딕</vt:lpstr>
      <vt:lpstr>어그로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qodlsgh0210@naver.com</cp:lastModifiedBy>
  <cp:revision>1</cp:revision>
  <dcterms:created xsi:type="dcterms:W3CDTF">2026-06-01T14:14:10Z</dcterms:created>
  <dcterms:modified xsi:type="dcterms:W3CDTF">2026-06-01T16:24:20Z</dcterms:modified>
</cp:coreProperties>
</file>